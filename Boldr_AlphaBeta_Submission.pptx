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71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AA9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5436"/>
  </p:normalViewPr>
  <p:slideViewPr>
    <p:cSldViewPr snapToGrid="0" snapToObjects="1">
      <p:cViewPr varScale="1">
        <p:scale>
          <a:sx n="100" d="100"/>
          <a:sy n="100" d="100"/>
        </p:scale>
        <p:origin x="9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ECHELON 2026  ·  AI WORKFLOW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Self-Improving</a:t>
            </a:r>
          </a:p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Customer Intelligence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0972800" cy="373307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 dirty="0">
                <a:solidFill>
                  <a:srgbClr val="E8D49A"/>
                </a:solidFill>
                <a:latin typeface="Georgia"/>
              </a:rPr>
              <a:t>Turn every customer question into product &amp; marketing intelligence</a:t>
            </a:r>
            <a:r>
              <a:rPr lang="en-US" sz="2000" b="0" i="1" dirty="0">
                <a:solidFill>
                  <a:srgbClr val="E8D49A"/>
                </a:solidFill>
                <a:latin typeface="Georgia"/>
              </a:rPr>
              <a:t> growing revenue</a:t>
            </a:r>
            <a:r>
              <a:rPr sz="2000" b="0" i="1" dirty="0">
                <a:solidFill>
                  <a:srgbClr val="E8D49A"/>
                </a:solidFill>
                <a:latin typeface="Georgia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617720"/>
            <a:ext cx="9144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735146"/>
            <a:ext cx="10972800" cy="117942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dirty="0">
                <a:solidFill>
                  <a:srgbClr val="FFFFFF"/>
                </a:solidFill>
                <a:latin typeface="Calibri"/>
              </a:rPr>
              <a:t>Team AlphaBeta </a:t>
            </a:r>
            <a:br>
              <a:rPr lang="en-US" sz="3200" b="1" i="0" dirty="0">
                <a:solidFill>
                  <a:srgbClr val="FFFFFF"/>
                </a:solidFill>
                <a:latin typeface="Calibri"/>
              </a:rPr>
            </a:br>
            <a:r>
              <a:rPr sz="3200" b="1" i="0" dirty="0">
                <a:solidFill>
                  <a:srgbClr val="FFFFFF"/>
                </a:solidFill>
                <a:latin typeface="Calibri"/>
              </a:rPr>
              <a:t>Tejas Chavan  +  Ayush K Pacheriwala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May 2026  ·  </a:t>
            </a:r>
            <a:r>
              <a:rPr sz="1000" b="0" i="0" dirty="0" err="1">
                <a:solidFill>
                  <a:srgbClr val="E8D49A"/>
                </a:solidFill>
                <a:latin typeface="Calibri"/>
              </a:rPr>
              <a:t>github.com</a:t>
            </a:r>
            <a:r>
              <a:rPr sz="1000" b="0" i="0" dirty="0">
                <a:solidFill>
                  <a:srgbClr val="E8D49A"/>
                </a:solidFill>
                <a:latin typeface="Calibri"/>
              </a:rPr>
              <a:t>/</a:t>
            </a:r>
            <a:r>
              <a:rPr sz="1000" b="0" i="0" dirty="0" err="1">
                <a:solidFill>
                  <a:srgbClr val="E8D49A"/>
                </a:solidFill>
                <a:latin typeface="Calibri"/>
              </a:rPr>
              <a:t>tejasdotchavan</a:t>
            </a:r>
            <a:r>
              <a:rPr sz="1000" b="0" i="0" dirty="0">
                <a:solidFill>
                  <a:srgbClr val="E8D49A"/>
                </a:solidFill>
                <a:latin typeface="Calibri"/>
              </a:rPr>
              <a:t>/e27-boldr-challenge-AlphaBeta</a:t>
            </a:r>
          </a:p>
        </p:txBody>
      </p:sp>
      <p:pic>
        <p:nvPicPr>
          <p:cNvPr id="1026" name="Picture 2" descr="BOLDR Supply Company | Singapore Singapore">
            <a:extLst>
              <a:ext uri="{FF2B5EF4-FFF2-40B4-BE49-F238E27FC236}">
                <a16:creationId xmlns:a16="http://schemas.microsoft.com/office/drawing/2014/main" id="{6D0C72C1-9E78-79C8-484E-5A2A1D1BE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619" y="143219"/>
            <a:ext cx="1825128" cy="1825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CONTEXT  ·  THE SME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B1437"/>
                </a:solidFill>
                <a:latin typeface="Georgia"/>
              </a:rPr>
              <a:t>Who is Boldr — and why this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09728" cy="47548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BOLDR SUPPLY 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029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B1437"/>
                </a:solidFill>
                <a:latin typeface="Georgia"/>
              </a:rPr>
              <a:t>Premium titanium watch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5029200" cy="32918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C9A961"/>
                </a:solidFill>
                <a:latin typeface="Calibri"/>
              </a:rPr>
              <a:t>■  </a:t>
            </a:r>
            <a:r>
              <a:rPr sz="1400" b="1">
                <a:solidFill>
                  <a:srgbClr val="14182C"/>
                </a:solidFill>
                <a:latin typeface="Calibri"/>
              </a:rPr>
              <a:t>Singapore HQ. </a:t>
            </a:r>
            <a:r>
              <a:rPr sz="1400">
                <a:solidFill>
                  <a:srgbClr val="14182C"/>
                </a:solidFill>
                <a:latin typeface="Calibri"/>
              </a:rPr>
              <a:t>Two flagship models (Expedition, Journey) + a sold-out limited edition.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C9A961"/>
                </a:solidFill>
                <a:latin typeface="Calibri"/>
              </a:rPr>
              <a:t>■  </a:t>
            </a:r>
            <a:r>
              <a:rPr sz="1400" b="1">
                <a:solidFill>
                  <a:srgbClr val="14182C"/>
                </a:solidFill>
                <a:latin typeface="Calibri"/>
              </a:rPr>
              <a:t>Channels: </a:t>
            </a:r>
            <a:r>
              <a:rPr sz="1400">
                <a:solidFill>
                  <a:srgbClr val="14182C"/>
                </a:solidFill>
                <a:latin typeface="Calibri"/>
              </a:rPr>
              <a:t>email, chat, WhatsApp, Instagram DM.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C9A961"/>
                </a:solidFill>
                <a:latin typeface="Calibri"/>
              </a:rPr>
              <a:t>■  </a:t>
            </a:r>
            <a:r>
              <a:rPr sz="1400" b="1">
                <a:solidFill>
                  <a:srgbClr val="14182C"/>
                </a:solidFill>
                <a:latin typeface="Calibri"/>
              </a:rPr>
              <a:t>CS team: </a:t>
            </a:r>
            <a:r>
              <a:rPr sz="1400">
                <a:solidFill>
                  <a:srgbClr val="14182C"/>
                </a:solidFill>
                <a:latin typeface="Calibri"/>
              </a:rPr>
              <a:t>3 people sharing one Gmail inbox. Fully manual.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C9A961"/>
                </a:solidFill>
                <a:latin typeface="Calibri"/>
              </a:rPr>
              <a:t>■  </a:t>
            </a:r>
            <a:r>
              <a:rPr sz="1400" b="1">
                <a:solidFill>
                  <a:srgbClr val="14182C"/>
                </a:solidFill>
                <a:latin typeface="Calibri"/>
              </a:rPr>
              <a:t>Stack: </a:t>
            </a:r>
            <a:r>
              <a:rPr sz="1400">
                <a:solidFill>
                  <a:srgbClr val="14182C"/>
                </a:solidFill>
                <a:latin typeface="Calibri"/>
              </a:rPr>
              <a:t>Shopify, Google Workspace, Slack — no automation today.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C9A961"/>
                </a:solidFill>
                <a:latin typeface="Calibri"/>
              </a:rPr>
              <a:t>■  </a:t>
            </a:r>
            <a:r>
              <a:rPr sz="1400" b="1">
                <a:solidFill>
                  <a:srgbClr val="14182C"/>
                </a:solidFill>
                <a:latin typeface="Calibri"/>
              </a:rPr>
              <a:t>Customer base: </a:t>
            </a:r>
            <a:r>
              <a:rPr sz="1400">
                <a:solidFill>
                  <a:srgbClr val="14182C"/>
                </a:solidFill>
                <a:latin typeface="Calibri"/>
              </a:rPr>
              <a:t>global, with gifters, enthusiasts, and health-conscious buyers.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17320"/>
            <a:ext cx="5239512" cy="4754880"/>
          </a:xfrm>
          <a:prstGeom prst="roundRect">
            <a:avLst>
              <a:gd name="adj" fmla="val 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4754880" cy="24378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dirty="0">
                <a:solidFill>
                  <a:srgbClr val="C9A961"/>
                </a:solidFill>
                <a:latin typeface="Calibri"/>
              </a:rPr>
              <a:t>THE </a:t>
            </a:r>
            <a:r>
              <a:rPr lang="en-US" sz="1200" b="1" i="0" dirty="0">
                <a:solidFill>
                  <a:srgbClr val="C9A961"/>
                </a:solidFill>
                <a:latin typeface="Calibri"/>
              </a:rPr>
              <a:t>OPPORTUNITY</a:t>
            </a:r>
            <a:r>
              <a:rPr sz="1200" b="1" i="0" dirty="0">
                <a:solidFill>
                  <a:srgbClr val="C9A961"/>
                </a:solidFill>
                <a:latin typeface="Calibri"/>
              </a:rPr>
              <a:t>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240281"/>
            <a:ext cx="73152" cy="8320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2429078"/>
            <a:ext cx="2103120" cy="385141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2800" b="1" i="0" dirty="0">
                <a:solidFill>
                  <a:srgbClr val="FFFFFF"/>
                </a:solidFill>
                <a:latin typeface="Georgia"/>
              </a:rPr>
              <a:t>$3-5k</a:t>
            </a:r>
            <a:endParaRPr sz="2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55159" y="2378049"/>
            <a:ext cx="2457721" cy="1978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Per month of productivity gains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55159" y="2683392"/>
            <a:ext cx="2457721" cy="29873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CS could save ~60% of their time on tickets today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75120" y="3211036"/>
            <a:ext cx="73152" cy="8320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0" y="3399832"/>
            <a:ext cx="2739790" cy="385141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 dirty="0">
                <a:solidFill>
                  <a:srgbClr val="FFFFFF"/>
                </a:solidFill>
                <a:latin typeface="Georgia"/>
              </a:rPr>
              <a:t>33%</a:t>
            </a:r>
            <a:r>
              <a:rPr lang="en-US" sz="2800" b="1" i="0" dirty="0">
                <a:solidFill>
                  <a:srgbClr val="FFFFFF"/>
                </a:solidFill>
                <a:latin typeface="Georgia"/>
              </a:rPr>
              <a:t>-&gt; Low</a:t>
            </a:r>
            <a:endParaRPr sz="2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55159" y="3255814"/>
            <a:ext cx="2457721" cy="37993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dirty="0">
                <a:solidFill>
                  <a:srgbClr val="FFFFFF"/>
                </a:solidFill>
                <a:latin typeface="Calibri"/>
              </a:rPr>
              <a:t>are knowledge gaps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; no auto update of KB 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55159" y="3654146"/>
            <a:ext cx="2457721" cy="29873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Based on 70 tickets data shared; huge opportunity to reduce this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675120" y="4181790"/>
            <a:ext cx="73152" cy="8320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0" y="4370587"/>
            <a:ext cx="2103120" cy="385141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2800" b="1" i="0" dirty="0">
                <a:solidFill>
                  <a:srgbClr val="FFFFFF"/>
                </a:solidFill>
                <a:latin typeface="Georgia"/>
              </a:rPr>
              <a:t>5-&gt;0.5</a:t>
            </a:r>
            <a:r>
              <a:rPr sz="2800" b="1" i="0" dirty="0">
                <a:solidFill>
                  <a:srgbClr val="FFFFFF"/>
                </a:solidFill>
                <a:latin typeface="Georgia"/>
              </a:rPr>
              <a:t>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5159" y="4257566"/>
            <a:ext cx="2457721" cy="37993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dirty="0">
                <a:solidFill>
                  <a:srgbClr val="FFFFFF"/>
                </a:solidFill>
                <a:latin typeface="Calibri"/>
              </a:rPr>
              <a:t>to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search info and 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draft reply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 for KB based responses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55159" y="4667168"/>
            <a:ext cx="2457721" cy="29873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i="1" dirty="0">
                <a:solidFill>
                  <a:srgbClr val="E8D49A"/>
                </a:solidFill>
                <a:latin typeface="Calibri"/>
              </a:rPr>
              <a:t>From searching across</a:t>
            </a: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 multiple PDFs</a:t>
            </a:r>
            <a:r>
              <a:rPr lang="en-US" sz="1000" i="1" dirty="0">
                <a:solidFill>
                  <a:srgbClr val="E8D49A"/>
                </a:solidFill>
                <a:latin typeface="Calibri"/>
              </a:rPr>
              <a:t>, CSVs</a:t>
            </a:r>
            <a:r>
              <a:rPr sz="1000" b="0" i="1" dirty="0">
                <a:solidFill>
                  <a:srgbClr val="E8D49A"/>
                </a:solidFill>
                <a:latin typeface="Calibri"/>
              </a:rPr>
              <a:t> manually</a:t>
            </a: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 to approving AI generated responses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332720" y="6476882"/>
            <a:ext cx="1371600" cy="2080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2 / 14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C9E8C9-7153-0432-EEBA-3B984D6670EA}"/>
              </a:ext>
            </a:extLst>
          </p:cNvPr>
          <p:cNvSpPr/>
          <p:nvPr/>
        </p:nvSpPr>
        <p:spPr>
          <a:xfrm>
            <a:off x="6675120" y="5157246"/>
            <a:ext cx="73152" cy="8320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01C8A5-517E-7255-B957-08941C52ECF3}"/>
              </a:ext>
            </a:extLst>
          </p:cNvPr>
          <p:cNvSpPr txBox="1"/>
          <p:nvPr/>
        </p:nvSpPr>
        <p:spPr>
          <a:xfrm>
            <a:off x="6858000" y="5284665"/>
            <a:ext cx="2103120" cy="50789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2800" b="1" i="0" dirty="0">
                <a:solidFill>
                  <a:srgbClr val="FFFFFF"/>
                </a:solidFill>
                <a:latin typeface="Georgia"/>
              </a:rPr>
              <a:t>$$$$</a:t>
            </a:r>
            <a:endParaRPr sz="2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0233F5-C8FF-D23C-1D58-0E83E900DA9B}"/>
              </a:ext>
            </a:extLst>
          </p:cNvPr>
          <p:cNvSpPr txBox="1"/>
          <p:nvPr/>
        </p:nvSpPr>
        <p:spPr>
          <a:xfrm>
            <a:off x="9155159" y="5295013"/>
            <a:ext cx="2457721" cy="26096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New marketing, product ideas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88D393-C6F1-B6AC-BB5C-90783BC41244}"/>
              </a:ext>
            </a:extLst>
          </p:cNvPr>
          <p:cNvSpPr txBox="1"/>
          <p:nvPr/>
        </p:nvSpPr>
        <p:spPr>
          <a:xfrm>
            <a:off x="9155159" y="5642623"/>
            <a:ext cx="2457721" cy="39395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i="1" dirty="0">
                <a:solidFill>
                  <a:srgbClr val="E8D49A"/>
                </a:solidFill>
                <a:latin typeface="Calibri"/>
              </a:rPr>
              <a:t>Originating from Tickets trends, validated with external data sources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§1  ·  PROBLEM IDENTIFICATION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dirty="0">
                <a:solidFill>
                  <a:srgbClr val="0B1437"/>
                </a:solidFill>
                <a:latin typeface="Georgia"/>
              </a:rPr>
              <a:t>Boldr's most valuable underused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1672" cy="640080"/>
          </a:xfrm>
          <a:prstGeom prst="roundRect">
            <a:avLst>
              <a:gd name="adj" fmla="val 2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2286000" cy="54864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63040"/>
            <a:ext cx="8686800" cy="54864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Customer support automation  +  Market intelligence for SMEs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0B1437"/>
                </a:solidFill>
                <a:latin typeface="Georgia"/>
              </a:rPr>
              <a:t>Boldr's 3-person CS team is drowning in repetitive enquiries, while every customer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0B1437"/>
                </a:solidFill>
                <a:latin typeface="Georgia"/>
              </a:rPr>
              <a:t>question — a real buyer signal — is discarded the moment the reply is 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359359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32004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1437"/>
                </a:solidFill>
                <a:latin typeface="Georgia"/>
              </a:rPr>
              <a:t>Repetition 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51960"/>
            <a:ext cx="320040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BPA-free, engraving pricing, strap compatibility — the same answers re-typed daily.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32120"/>
            <a:ext cx="3200400" cy="6858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dirty="0">
                <a:solidFill>
                  <a:srgbClr val="C9A961"/>
                </a:solidFill>
                <a:latin typeface="Calibri"/>
              </a:rPr>
              <a:t>67% of tickets are KB-answerable but drafted from scratch every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3657600"/>
            <a:ext cx="359359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70248" y="365760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98848" y="3794760"/>
            <a:ext cx="32004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1437"/>
                </a:solidFill>
                <a:latin typeface="Georgia"/>
              </a:rPr>
              <a:t>Knowledge that walks out the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4251960"/>
            <a:ext cx="320040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Resolved tickets stay in Gmail. Nothing flows back into the FAQ, SOP, or product pages.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5532120"/>
            <a:ext cx="3200400" cy="6858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dirty="0">
                <a:solidFill>
                  <a:srgbClr val="C9A961"/>
                </a:solidFill>
                <a:latin typeface="Calibri"/>
              </a:rPr>
              <a:t>Arabic engraving was flagged as a gap — but the rate card already supports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3657600"/>
            <a:ext cx="359359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91856" y="365760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0456" y="3794760"/>
            <a:ext cx="32004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1437"/>
                </a:solidFill>
                <a:latin typeface="Georgia"/>
              </a:rPr>
              <a:t>Marketing is blind to real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4251960"/>
            <a:ext cx="320040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Sustainability, child safety, multi-script engraving — asked weekly, surfaced never.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5532120"/>
            <a:ext cx="3200400" cy="6858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C9A961"/>
                </a:solidFill>
                <a:latin typeface="Calibri"/>
              </a:rPr>
              <a:t>5 product-page content gaps surfaced from a single month of tickets.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dirty="0">
                <a:solidFill>
                  <a:srgbClr val="0B1437"/>
                </a:solidFill>
                <a:latin typeface="Georgia"/>
              </a:rPr>
              <a:t>Seven steps. Every ticket teaches the system.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2708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2708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Webhook 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85416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729484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29484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85416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5416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D49A"/>
                </a:solidFill>
                <a:latin typeface="Calibri"/>
              </a:rPr>
              <a:t>Intent + persona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366259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6259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Search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2191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D49A"/>
                </a:solidFill>
                <a:latin typeface="Calibri"/>
              </a:rPr>
              <a:t>Vector lookup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58968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003036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03036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Draft /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D49A"/>
                </a:solidFill>
                <a:latin typeface="Calibri"/>
              </a:rPr>
              <a:t>Answer or escalate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5744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639812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39812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95744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Auto-draft 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4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D49A"/>
                </a:solidFill>
                <a:latin typeface="Calibri"/>
              </a:rPr>
              <a:t>Close the loop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19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76587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76587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19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Cluster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19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D49A"/>
                </a:solidFill>
                <a:latin typeface="Calibri"/>
              </a:rPr>
              <a:t>Weekly themes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69296" y="1828800"/>
            <a:ext cx="1545336" cy="1234440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913364" y="1600200"/>
            <a:ext cx="457200" cy="4572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913364" y="1600200"/>
            <a:ext cx="457200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B1437"/>
                </a:solidFill>
                <a:latin typeface="Georgia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9296" y="21488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Brief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9296" y="2606040"/>
            <a:ext cx="1545336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Monthly marketing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2536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9312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dirty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12863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6" y="2286000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7750" y="3231750"/>
            <a:ext cx="10972800" cy="24634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 dirty="0">
                <a:solidFill>
                  <a:srgbClr val="4B6BBD"/>
                </a:solidFill>
                <a:latin typeface="Calibri"/>
              </a:rPr>
              <a:t>↩  </a:t>
            </a:r>
            <a:r>
              <a:rPr lang="en-US" sz="1200" i="1" dirty="0">
                <a:solidFill>
                  <a:srgbClr val="4B6BBD"/>
                </a:solidFill>
                <a:latin typeface="Calibri"/>
              </a:rPr>
              <a:t>S</a:t>
            </a:r>
            <a:r>
              <a:rPr sz="1200" b="0" i="1" dirty="0">
                <a:solidFill>
                  <a:srgbClr val="4B6BBD"/>
                </a:solidFill>
                <a:latin typeface="Calibri"/>
              </a:rPr>
              <a:t>elf-improving loop: resolved gaps become new KB entries the engine can answer next time.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023360"/>
            <a:ext cx="3593592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41605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FOR CUSTOMERS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4526280"/>
            <a:ext cx="3200400" cy="1645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 dirty="0">
                <a:solidFill>
                  <a:srgbClr val="0B1437"/>
                </a:solidFill>
                <a:latin typeface="Georgia"/>
              </a:rPr>
              <a:t>Faster, on-brand replies — no hallucinated answers, ever.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70248" y="4023360"/>
            <a:ext cx="3593592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98848" y="41605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FOR CS TEAM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4526280"/>
            <a:ext cx="3200400" cy="1645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 dirty="0">
                <a:solidFill>
                  <a:srgbClr val="0B1437"/>
                </a:solidFill>
                <a:latin typeface="Georgia"/>
              </a:rPr>
              <a:t>Review-and-approve instead of draft-from-scratch. ~80% time saved on KB tickets.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4023360"/>
            <a:ext cx="3593592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0456" y="4160520"/>
            <a:ext cx="3200400" cy="226537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C9A961"/>
                </a:solidFill>
                <a:latin typeface="Calibri"/>
              </a:rPr>
              <a:t>FOR MARKETING</a:t>
            </a:r>
            <a:r>
              <a:rPr lang="en-US" sz="1100" b="1" dirty="0">
                <a:solidFill>
                  <a:srgbClr val="C9A961"/>
                </a:solidFill>
                <a:latin typeface="Calibri"/>
              </a:rPr>
              <a:t>, PRODUCT</a:t>
            </a:r>
            <a:endParaRPr sz="1100" b="1" i="0" dirty="0">
              <a:solidFill>
                <a:srgbClr val="C9A961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220456" y="4526280"/>
            <a:ext cx="3200400" cy="1645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B1437"/>
                </a:solidFill>
                <a:latin typeface="Georgia"/>
              </a:rPr>
              <a:t>Monthly brief surfaces unmet demand + product-page gaps with persona tags.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4 / 14</a:t>
            </a:r>
          </a:p>
        </p:txBody>
      </p: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1FDDBBD8-7CFD-FC4C-3032-BB365A2954C7}"/>
              </a:ext>
            </a:extLst>
          </p:cNvPr>
          <p:cNvCxnSpPr>
            <a:cxnSpLocks/>
            <a:stCxn id="20" idx="2"/>
            <a:endCxn id="81" idx="3"/>
          </p:cNvCxnSpPr>
          <p:nvPr/>
        </p:nvCxnSpPr>
        <p:spPr>
          <a:xfrm rot="5400000">
            <a:off x="5600838" y="2829930"/>
            <a:ext cx="397489" cy="864109"/>
          </a:xfrm>
          <a:prstGeom prst="bentConnector2">
            <a:avLst/>
          </a:prstGeom>
          <a:ln>
            <a:solidFill>
              <a:srgbClr val="CAA96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25123131-F67B-B3EA-6EDA-DD56AEBE7F71}"/>
              </a:ext>
            </a:extLst>
          </p:cNvPr>
          <p:cNvSpPr/>
          <p:nvPr/>
        </p:nvSpPr>
        <p:spPr>
          <a:xfrm>
            <a:off x="3822191" y="3082790"/>
            <a:ext cx="1545336" cy="578119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38BDCB9-FF23-723D-3C8B-0A095D32C4D5}"/>
              </a:ext>
            </a:extLst>
          </p:cNvPr>
          <p:cNvSpPr txBox="1"/>
          <p:nvPr/>
        </p:nvSpPr>
        <p:spPr>
          <a:xfrm>
            <a:off x="3822191" y="3130788"/>
            <a:ext cx="1545336" cy="27238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1400" b="1" i="0" dirty="0">
                <a:solidFill>
                  <a:srgbClr val="FFFFFF"/>
                </a:solidFill>
                <a:latin typeface="Georgia"/>
              </a:rPr>
              <a:t>Update</a:t>
            </a:r>
            <a:r>
              <a:rPr sz="1400" b="1" i="0" dirty="0">
                <a:solidFill>
                  <a:srgbClr val="FFFFFF"/>
                </a:solidFill>
                <a:latin typeface="Georgia"/>
              </a:rPr>
              <a:t> KB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143C8F-7B7F-C008-E1B9-0AD489DC8784}"/>
              </a:ext>
            </a:extLst>
          </p:cNvPr>
          <p:cNvSpPr txBox="1"/>
          <p:nvPr/>
        </p:nvSpPr>
        <p:spPr>
          <a:xfrm>
            <a:off x="3822191" y="3356085"/>
            <a:ext cx="1545336" cy="2092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1000" b="0" i="0" dirty="0">
                <a:solidFill>
                  <a:srgbClr val="E8D49A"/>
                </a:solidFill>
                <a:latin typeface="Calibri"/>
              </a:rPr>
              <a:t>Periodic human approved</a:t>
            </a:r>
            <a:endParaRPr sz="1000" b="0" i="0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9A4001-0795-D5A8-45B5-69660CB7EB16}"/>
              </a:ext>
            </a:extLst>
          </p:cNvPr>
          <p:cNvSpPr txBox="1"/>
          <p:nvPr/>
        </p:nvSpPr>
        <p:spPr>
          <a:xfrm rot="16200000">
            <a:off x="4457699" y="2877057"/>
            <a:ext cx="27432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dirty="0">
                <a:solidFill>
                  <a:srgbClr val="C9A961"/>
                </a:solidFill>
                <a:latin typeface="Calibri"/>
              </a:rPr>
              <a:t>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§2  ·  WORKFLOW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3000" b="1" dirty="0">
                <a:solidFill>
                  <a:srgbClr val="0B1437"/>
                </a:solidFill>
                <a:latin typeface="Georgia"/>
              </a:rPr>
              <a:t>The Stack: </a:t>
            </a:r>
            <a:r>
              <a:rPr sz="3000" b="1" i="0" dirty="0">
                <a:solidFill>
                  <a:srgbClr val="0B1437"/>
                </a:solidFill>
                <a:latin typeface="Georgia"/>
              </a:rPr>
              <a:t>Built once, ownable by a 3-person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0501278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09728" cy="4754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5720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THE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965960"/>
            <a:ext cx="3108960" cy="465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14182C"/>
                </a:solidFill>
                <a:latin typeface="Calibri"/>
              </a:rPr>
              <a:t>n8n (</a:t>
            </a: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open-source </a:t>
            </a:r>
            <a:r>
              <a:rPr sz="1200" b="0" i="0" dirty="0">
                <a:solidFill>
                  <a:srgbClr val="14182C"/>
                </a:solidFill>
                <a:latin typeface="Calibri"/>
              </a:rPr>
              <a:t>visual canvas</a:t>
            </a: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 – easy to use, maintain by non-technical users)</a:t>
            </a:r>
            <a:endParaRPr sz="1200" b="0" i="0" dirty="0">
              <a:solidFill>
                <a:srgbClr val="14182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68880" y="2723747"/>
            <a:ext cx="3627120" cy="2437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14182C"/>
                </a:solidFill>
                <a:latin typeface="Calibri"/>
              </a:rPr>
              <a:t>Qwen3-32B via FPT AI Factory</a:t>
            </a: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 (minimal costs)</a:t>
            </a:r>
            <a:endParaRPr sz="1200" b="0" i="0" dirty="0">
              <a:solidFill>
                <a:srgbClr val="14182C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68880" y="3251783"/>
            <a:ext cx="3293862" cy="6869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14182C"/>
                </a:solidFill>
                <a:latin typeface="Calibri"/>
              </a:rPr>
              <a:t>PDFs, CSV files (as provided) converted into </a:t>
            </a: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Compacted JSON (generated one-time). New potential KB additions tracked on </a:t>
            </a:r>
            <a:r>
              <a:rPr lang="en-US" sz="1200" b="0" i="0" dirty="0" err="1">
                <a:solidFill>
                  <a:srgbClr val="14182C"/>
                </a:solidFill>
                <a:latin typeface="Calibri"/>
              </a:rPr>
              <a:t>GSheets</a:t>
            </a:r>
            <a:endParaRPr sz="1200" b="0" i="0" dirty="0">
              <a:solidFill>
                <a:srgbClr val="14182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98708" y="4154876"/>
            <a:ext cx="3455473" cy="2437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Telegram (for demo), can be Slack to any other tool</a:t>
            </a:r>
            <a:endParaRPr sz="1200" b="0" i="0" dirty="0">
              <a:solidFill>
                <a:srgbClr val="14182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68879" y="4856102"/>
            <a:ext cx="3385301" cy="2437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Telegram (for Demo), can be any channel – Gmail etc.</a:t>
            </a:r>
            <a:endParaRPr sz="1200" b="0" i="0" dirty="0">
              <a:solidFill>
                <a:srgbClr val="14182C"/>
              </a:solidFill>
              <a:latin typeface="Calibri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F029CF2-FEF6-7DCD-DFB7-91D549EC08FC}"/>
              </a:ext>
            </a:extLst>
          </p:cNvPr>
          <p:cNvGrpSpPr/>
          <p:nvPr/>
        </p:nvGrpSpPr>
        <p:grpSpPr>
          <a:xfrm>
            <a:off x="822960" y="1965960"/>
            <a:ext cx="1554480" cy="4027216"/>
            <a:chOff x="822960" y="1965960"/>
            <a:chExt cx="1554480" cy="2827249"/>
          </a:xfrm>
        </p:grpSpPr>
        <p:sp>
          <p:nvSpPr>
            <p:cNvPr id="8" name="TextBox 7"/>
            <p:cNvSpPr txBox="1"/>
            <p:nvPr/>
          </p:nvSpPr>
          <p:spPr>
            <a:xfrm>
              <a:off x="822960" y="1965960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dirty="0">
                  <a:solidFill>
                    <a:srgbClr val="6B7088"/>
                  </a:solidFill>
                  <a:latin typeface="Calibri"/>
                </a:rPr>
                <a:t>Orchestration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" y="2468880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>
                  <a:solidFill>
                    <a:srgbClr val="6B7088"/>
                  </a:solidFill>
                  <a:latin typeface="Calibri"/>
                </a:rPr>
                <a:t>AI model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22960" y="2971800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dirty="0">
                  <a:solidFill>
                    <a:srgbClr val="6B7088"/>
                  </a:solidFill>
                  <a:latin typeface="Calibri"/>
                </a:rPr>
                <a:t>Knowledge Base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2960" y="3474720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>
                  <a:solidFill>
                    <a:srgbClr val="6B7088"/>
                  </a:solidFill>
                  <a:latin typeface="Calibri"/>
                </a:rPr>
                <a:t>Approval gate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2960" y="3977639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>
                  <a:solidFill>
                    <a:srgbClr val="6B7088"/>
                  </a:solidFill>
                  <a:latin typeface="Calibri"/>
                </a:rPr>
                <a:t>Outbound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22960" y="4480559"/>
              <a:ext cx="1554480" cy="312650"/>
            </a:xfrm>
            <a:prstGeom prst="rect">
              <a:avLst/>
            </a:prstGeom>
            <a:noFill/>
          </p:spPr>
          <p:txBody>
            <a:bodyPr wrap="square" lIns="27432" tIns="18288" rIns="27432" bIns="18288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dirty="0">
                  <a:solidFill>
                    <a:srgbClr val="6B7088"/>
                  </a:solidFill>
                  <a:latin typeface="Calibri"/>
                </a:rPr>
                <a:t>Ticket source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2468880" y="5527856"/>
            <a:ext cx="3108960" cy="465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4182C"/>
                </a:solidFill>
                <a:latin typeface="Calibri"/>
              </a:rPr>
              <a:t>Telegram (for Demo), can be extended to other channels </a:t>
            </a:r>
            <a:r>
              <a:rPr lang="en-US" sz="1200" dirty="0">
                <a:solidFill>
                  <a:srgbClr val="14182C"/>
                </a:solidFill>
                <a:latin typeface="Calibri"/>
              </a:rPr>
              <a:t>via </a:t>
            </a:r>
            <a:r>
              <a:rPr sz="1200" b="0" i="0" dirty="0">
                <a:solidFill>
                  <a:srgbClr val="14182C"/>
                </a:solidFill>
                <a:latin typeface="Calibri"/>
              </a:rPr>
              <a:t>Webhook from email / chat / DM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5 / 14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F3D9EB4-DFFB-E0E1-4D1C-F43ABB06A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182" y="1743727"/>
            <a:ext cx="1885720" cy="754288"/>
          </a:xfrm>
          <a:prstGeom prst="rect">
            <a:avLst/>
          </a:prstGeom>
        </p:spPr>
      </p:pic>
      <p:pic>
        <p:nvPicPr>
          <p:cNvPr id="2052" name="Picture 4" descr="Logos Download | Qwen">
            <a:extLst>
              <a:ext uri="{FF2B5EF4-FFF2-40B4-BE49-F238E27FC236}">
                <a16:creationId xmlns:a16="http://schemas.microsoft.com/office/drawing/2014/main" id="{AAD38A47-1D9E-BFE7-6C87-5E387B039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2587211"/>
            <a:ext cx="1554480" cy="455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FPT.AI Customer Reviews 2026 | Conversational AI | SoftwareReviews">
            <a:extLst>
              <a:ext uri="{FF2B5EF4-FFF2-40B4-BE49-F238E27FC236}">
                <a16:creationId xmlns:a16="http://schemas.microsoft.com/office/drawing/2014/main" id="{8AC19401-8855-0001-EA3F-930B53392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720" y="2355587"/>
            <a:ext cx="1554480" cy="6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780596F-EBCA-0FC6-4EDD-679C649E2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049640"/>
            <a:ext cx="1687029" cy="1002770"/>
          </a:xfrm>
          <a:prstGeom prst="rect">
            <a:avLst/>
          </a:prstGeom>
        </p:spPr>
      </p:pic>
      <p:pic>
        <p:nvPicPr>
          <p:cNvPr id="2058" name="Picture 10" descr="Telegram Logo - Free Transparent PNG Logos">
            <a:extLst>
              <a:ext uri="{FF2B5EF4-FFF2-40B4-BE49-F238E27FC236}">
                <a16:creationId xmlns:a16="http://schemas.microsoft.com/office/drawing/2014/main" id="{7FB8CF2C-631C-2423-EE12-015B2F734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4099993"/>
            <a:ext cx="1109496" cy="32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10" descr="Telegram Logo - Free Transparent PNG Logos">
            <a:extLst>
              <a:ext uri="{FF2B5EF4-FFF2-40B4-BE49-F238E27FC236}">
                <a16:creationId xmlns:a16="http://schemas.microsoft.com/office/drawing/2014/main" id="{15EE2002-2813-FE63-D29B-5C10F8A64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4816090"/>
            <a:ext cx="1109496" cy="32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10" descr="Telegram Logo - Free Transparent PNG Logos">
            <a:extLst>
              <a:ext uri="{FF2B5EF4-FFF2-40B4-BE49-F238E27FC236}">
                <a16:creationId xmlns:a16="http://schemas.microsoft.com/office/drawing/2014/main" id="{3B3360B4-646D-F89B-CAE2-3DD3347E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5565237"/>
            <a:ext cx="1109496" cy="32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01824EE-B62F-6946-3AB9-8DFD3343D710}"/>
              </a:ext>
            </a:extLst>
          </p:cNvPr>
          <p:cNvSpPr txBox="1"/>
          <p:nvPr/>
        </p:nvSpPr>
        <p:spPr>
          <a:xfrm>
            <a:off x="8046720" y="4423498"/>
            <a:ext cx="25008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Telegram only for demo, can be extended to other channels easily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27B23ED-3271-8EB1-0A26-7B745C62ACDB}"/>
              </a:ext>
            </a:extLst>
          </p:cNvPr>
          <p:cNvSpPr/>
          <p:nvPr/>
        </p:nvSpPr>
        <p:spPr>
          <a:xfrm>
            <a:off x="5854180" y="3966072"/>
            <a:ext cx="5030485" cy="210354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60" name="Picture 12" descr="Pdf Logo&quot; Images – Browse 123 Stock Photos, Vectors, and Video | Adobe Stock">
            <a:extLst>
              <a:ext uri="{FF2B5EF4-FFF2-40B4-BE49-F238E27FC236}">
                <a16:creationId xmlns:a16="http://schemas.microsoft.com/office/drawing/2014/main" id="{E5D9BA47-C1B7-DF6A-EA2B-60C2C5B23C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3799" y="3122162"/>
            <a:ext cx="1001463" cy="757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§2  · 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dirty="0">
                <a:solidFill>
                  <a:srgbClr val="0B1437"/>
                </a:solidFill>
                <a:latin typeface="Georgia"/>
              </a:rPr>
              <a:t>Two real tickets, end-to-end</a:t>
            </a: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 demo</a:t>
            </a:r>
            <a:endParaRPr sz="3000" b="1" i="0" dirty="0">
              <a:solidFill>
                <a:srgbClr val="0B1437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4864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502920"/>
          </a:xfrm>
          <a:prstGeom prst="rect">
            <a:avLst/>
          </a:prstGeom>
          <a:solidFill>
            <a:srgbClr val="2C8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521208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DEMO A  ·  ANSWERABLE FROM KB  ·  TKT-1048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50292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Vikram Allen  · 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 dirty="0">
                <a:solidFill>
                  <a:srgbClr val="0B1437"/>
                </a:solidFill>
                <a:latin typeface="Georgia"/>
              </a:rPr>
              <a:t>“I'm buying this for my young daughter and want to make sure the strap is BPA-free. Can you confirm?”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7560"/>
            <a:ext cx="73152" cy="411480"/>
          </a:xfrm>
          <a:prstGeom prst="rect">
            <a:avLst/>
          </a:prstGeom>
          <a:solidFill>
            <a:srgbClr val="2C8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1 — Classify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3756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materials_safety  ·  health_conscious (high)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73152" cy="411480"/>
          </a:xfrm>
          <a:prstGeom prst="rect">
            <a:avLst/>
          </a:prstGeom>
          <a:solidFill>
            <a:srgbClr val="2C8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2 — KB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84048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FAQ p.1 + Product Reference  ·  conf. 0.97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343400"/>
            <a:ext cx="73152" cy="411480"/>
          </a:xfrm>
          <a:prstGeom prst="rect">
            <a:avLst/>
          </a:prstGeom>
          <a:solidFill>
            <a:srgbClr val="2C8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34340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3 — Draft reply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4340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Brand-voice reply  ·  queued for human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846320"/>
            <a:ext cx="73152" cy="411480"/>
          </a:xfrm>
          <a:prstGeom prst="rect">
            <a:avLst/>
          </a:prstGeom>
          <a:solidFill>
            <a:srgbClr val="2C8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84632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Sent in ~90s instead of ~8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943600"/>
            <a:ext cx="50292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C8A5D"/>
                </a:solidFill>
                <a:latin typeface="Calibri"/>
              </a:rPr>
              <a:t>✓ Validated in live n8n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1417320"/>
            <a:ext cx="54864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53912" y="1417320"/>
            <a:ext cx="5486400" cy="50292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82512" y="1463040"/>
            <a:ext cx="521208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DEMO B  ·  KNOWLEDGE GAP  ·  TKT-1013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2057400"/>
            <a:ext cx="50292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Victoria Singh  · 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331720"/>
            <a:ext cx="502920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 dirty="0">
                <a:solidFill>
                  <a:srgbClr val="0B1437"/>
                </a:solidFill>
                <a:latin typeface="Georgia"/>
              </a:rPr>
              <a:t>“Do you offer carbon-neutral shipping? I try to offset my purchases where possible.”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3337560"/>
            <a:ext cx="73152" cy="41148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65392" y="333756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1 — Classify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33756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knowledge_gap  ·  niche_buyer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840480"/>
            <a:ext cx="73152" cy="41148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4048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2 — KB search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384048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No match  ·  conf. &lt; 0.75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82512" y="4343400"/>
            <a:ext cx="73152" cy="41148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65392" y="4343400"/>
            <a:ext cx="169164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1437"/>
                </a:solidFill>
                <a:latin typeface="Calibri"/>
              </a:rPr>
              <a:t>Step 4 — Flag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43400"/>
            <a:ext cx="320040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Logged, routed to CS  ·  no hallucination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4846320"/>
            <a:ext cx="73152" cy="41148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65392" y="4938791"/>
            <a:ext cx="1691640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Step 5 — </a:t>
            </a:r>
            <a:r>
              <a:rPr lang="en-US" sz="1100" b="1" i="0" dirty="0" err="1">
                <a:solidFill>
                  <a:srgbClr val="0B1437"/>
                </a:solidFill>
                <a:latin typeface="Calibri"/>
              </a:rPr>
              <a:t>GSheet</a:t>
            </a:r>
            <a:r>
              <a:rPr lang="en-US" sz="1100" b="1" i="0" dirty="0">
                <a:solidFill>
                  <a:srgbClr val="0B1437"/>
                </a:solidFill>
                <a:latin typeface="Calibri"/>
              </a:rPr>
              <a:t> CS reply</a:t>
            </a:r>
            <a:endParaRPr sz="11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302752" y="4837258"/>
            <a:ext cx="3200400" cy="429605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After CS 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drafts reply, sends through status change on </a:t>
            </a:r>
            <a:r>
              <a:rPr lang="en-US" sz="1100" b="0" i="0" dirty="0" err="1">
                <a:solidFill>
                  <a:srgbClr val="1F2440"/>
                </a:solidFill>
                <a:latin typeface="Calibri"/>
              </a:rPr>
              <a:t>Gsheet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 and records the reply in </a:t>
            </a:r>
            <a:r>
              <a:rPr lang="en-US" sz="1100" b="0" i="0" dirty="0" err="1">
                <a:solidFill>
                  <a:srgbClr val="1F2440"/>
                </a:solidFill>
                <a:latin typeface="Calibri"/>
              </a:rPr>
              <a:t>GSheet</a:t>
            </a:r>
            <a:endParaRPr sz="1100" b="0" i="0" dirty="0">
              <a:solidFill>
                <a:srgbClr val="1F2440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382512" y="5943600"/>
            <a:ext cx="50292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85042"/>
                </a:solidFill>
                <a:latin typeface="Calibri"/>
              </a:rPr>
              <a:t>↪  Gap becomes a KB entry — system never asks this twice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6 / 14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01D60E-E323-1677-C058-4BA193FAE4C4}"/>
              </a:ext>
            </a:extLst>
          </p:cNvPr>
          <p:cNvSpPr/>
          <p:nvPr/>
        </p:nvSpPr>
        <p:spPr>
          <a:xfrm>
            <a:off x="6382512" y="5367181"/>
            <a:ext cx="73152" cy="41148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149DDC-8170-DB92-7A86-67F7A5C3B663}"/>
              </a:ext>
            </a:extLst>
          </p:cNvPr>
          <p:cNvSpPr txBox="1"/>
          <p:nvPr/>
        </p:nvSpPr>
        <p:spPr>
          <a:xfrm>
            <a:off x="6565392" y="5459652"/>
            <a:ext cx="1691640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Step 5 — KB </a:t>
            </a:r>
            <a:r>
              <a:rPr lang="en-US" sz="1100" b="1" i="0" dirty="0">
                <a:solidFill>
                  <a:srgbClr val="0B1437"/>
                </a:solidFill>
                <a:latin typeface="Calibri"/>
              </a:rPr>
              <a:t>update</a:t>
            </a:r>
            <a:endParaRPr sz="11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349507F-BAE8-251B-13D3-DA3A205F0F1D}"/>
              </a:ext>
            </a:extLst>
          </p:cNvPr>
          <p:cNvSpPr txBox="1"/>
          <p:nvPr/>
        </p:nvSpPr>
        <p:spPr>
          <a:xfrm>
            <a:off x="8302752" y="5358119"/>
            <a:ext cx="3200400" cy="429605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Periodic review of </a:t>
            </a:r>
            <a:r>
              <a:rPr lang="en-US" sz="1100" b="0" i="0" dirty="0" err="1">
                <a:solidFill>
                  <a:srgbClr val="1F2440"/>
                </a:solidFill>
                <a:latin typeface="Calibri"/>
              </a:rPr>
              <a:t>Gsheet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, to push updated KB articles to KB; in future it answers the question</a:t>
            </a:r>
            <a:endParaRPr sz="1100" b="0" i="0" dirty="0">
              <a:solidFill>
                <a:srgbClr val="1F244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WHAT THE ENGINE PRODUCES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dirty="0">
                <a:solidFill>
                  <a:srgbClr val="0B1437"/>
                </a:solidFill>
                <a:latin typeface="Georgia"/>
              </a:rPr>
              <a:t>Four </a:t>
            </a: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features</a:t>
            </a:r>
            <a:r>
              <a:rPr sz="3000" b="1" i="0" dirty="0">
                <a:solidFill>
                  <a:srgbClr val="0B1437"/>
                </a:solidFill>
                <a:latin typeface="Georgia"/>
              </a:rPr>
              <a:t> — already </a:t>
            </a: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live</a:t>
            </a:r>
            <a:endParaRPr sz="3000" b="1" i="0" dirty="0">
              <a:solidFill>
                <a:srgbClr val="0B1437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679192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22476" y="1691640"/>
            <a:ext cx="731520" cy="731520"/>
          </a:xfrm>
          <a:prstGeom prst="ellipse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22476" y="1691640"/>
            <a:ext cx="731520" cy="7315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C9A961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0B1437"/>
                </a:solidFill>
                <a:latin typeface="Georgia"/>
              </a:rPr>
              <a:t>Drafted replies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313432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Brand-voice, KB-cited, human-gated.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09160"/>
            <a:ext cx="2313432" cy="4572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dirty="0">
                <a:solidFill>
                  <a:srgbClr val="0B1437"/>
                </a:solidFill>
                <a:latin typeface="Calibri"/>
              </a:rPr>
              <a:t>5 samples  ·  human approval queue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17320"/>
            <a:ext cx="2679192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293108" y="1691640"/>
            <a:ext cx="731520" cy="731520"/>
          </a:xfrm>
          <a:prstGeom prst="ellipse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3108" y="1691640"/>
            <a:ext cx="731520" cy="7315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C9A961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60604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0B1437"/>
                </a:solidFill>
                <a:latin typeface="Georgia"/>
              </a:rPr>
              <a:t>Knowledge gap 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200400"/>
            <a:ext cx="2313432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Every unanswered question, with persona + channel context for 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4709160"/>
            <a:ext cx="2313432" cy="4572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02152" y="4815867"/>
            <a:ext cx="2313432" cy="243785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1200" b="1" i="0" dirty="0">
                <a:solidFill>
                  <a:srgbClr val="0B1437"/>
                </a:solidFill>
                <a:latin typeface="Calibri"/>
              </a:rPr>
              <a:t>New KB creation potential</a:t>
            </a:r>
            <a:endParaRPr sz="12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089904" y="1417320"/>
            <a:ext cx="2679192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063740" y="1691640"/>
            <a:ext cx="731520" cy="731520"/>
          </a:xfrm>
          <a:prstGeom prst="ellipse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63740" y="1691640"/>
            <a:ext cx="731520" cy="7315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C9A961"/>
                </a:solidFill>
                <a:latin typeface="Georg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4" y="260604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0B1437"/>
                </a:solidFill>
                <a:latin typeface="Georgia"/>
              </a:rPr>
              <a:t>Weekly theme clusters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3200400"/>
            <a:ext cx="2313432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F2440"/>
                </a:solidFill>
                <a:latin typeface="Calibri"/>
              </a:rPr>
              <a:t>Group novel questions by theme. Trend flags: new, recurring, escalating.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2784" y="4709160"/>
            <a:ext cx="2313432" cy="4572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72784" y="470916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dirty="0">
                <a:solidFill>
                  <a:srgbClr val="0B1437"/>
                </a:solidFill>
                <a:latin typeface="Calibri"/>
              </a:rPr>
              <a:t>4 clusters  ·  May 5–11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0536" y="1417320"/>
            <a:ext cx="2679192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834372" y="1691640"/>
            <a:ext cx="731520" cy="731520"/>
          </a:xfrm>
          <a:prstGeom prst="ellipse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34372" y="1691640"/>
            <a:ext cx="731520" cy="7315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C9A961"/>
                </a:solidFill>
                <a:latin typeface="Georgi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3416" y="2606040"/>
            <a:ext cx="2313432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0B1437"/>
                </a:solidFill>
                <a:latin typeface="Georgia"/>
              </a:rPr>
              <a:t>Monthly marketing brief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3416" y="3200400"/>
            <a:ext cx="2313432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 dirty="0">
                <a:solidFill>
                  <a:srgbClr val="1F2440"/>
                </a:solidFill>
                <a:latin typeface="Calibri"/>
              </a:rPr>
              <a:t>Top themes, persona mix, product-page gaps, content recommendations.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43416" y="4709160"/>
            <a:ext cx="2313432" cy="4572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43416" y="4815867"/>
            <a:ext cx="2313432" cy="243785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dirty="0">
                <a:solidFill>
                  <a:srgbClr val="0B1437"/>
                </a:solidFill>
                <a:latin typeface="Calibri"/>
              </a:rPr>
              <a:t>5 content </a:t>
            </a:r>
            <a:r>
              <a:rPr lang="en-US" sz="1200" b="1" i="0" dirty="0">
                <a:solidFill>
                  <a:srgbClr val="0B1437"/>
                </a:solidFill>
                <a:latin typeface="Calibri"/>
              </a:rPr>
              <a:t>ideas</a:t>
            </a:r>
            <a:endParaRPr sz="12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§3  · 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B1437"/>
                </a:solidFill>
                <a:latin typeface="Georgia"/>
              </a:rPr>
              <a:t>Time saved, revenue surfaced, knowledge compounded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514600" cy="776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 dirty="0">
                <a:solidFill>
                  <a:srgbClr val="C9A961"/>
                </a:solidFill>
                <a:latin typeface="Georgia"/>
              </a:rPr>
              <a:t>~</a:t>
            </a:r>
            <a:r>
              <a:rPr lang="en-US" sz="4400" b="1" dirty="0">
                <a:solidFill>
                  <a:srgbClr val="C9A961"/>
                </a:solidFill>
                <a:latin typeface="Georgia"/>
              </a:rPr>
              <a:t>90</a:t>
            </a:r>
            <a:r>
              <a:rPr sz="4400" b="1" i="0" dirty="0">
                <a:solidFill>
                  <a:srgbClr val="C9A961"/>
                </a:solidFill>
                <a:latin typeface="Georgia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25146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drafting 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514600" cy="4208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 dirty="0">
                <a:solidFill>
                  <a:srgbClr val="E8D49A"/>
                </a:solidFill>
                <a:latin typeface="Calibri"/>
              </a:rPr>
              <a:t>on KB-answerable tickets </a:t>
            </a:r>
            <a:br>
              <a:rPr lang="en-US" sz="1000" b="0" i="1" dirty="0">
                <a:solidFill>
                  <a:srgbClr val="E8D49A"/>
                </a:solidFill>
                <a:latin typeface="Calibri"/>
              </a:rPr>
            </a:br>
            <a:r>
              <a:rPr sz="1000" b="0" i="1" dirty="0">
                <a:solidFill>
                  <a:srgbClr val="E8D49A"/>
                </a:solidFill>
                <a:latin typeface="Calibri"/>
              </a:rPr>
              <a:t>(~</a:t>
            </a:r>
            <a:r>
              <a:rPr lang="en-US" sz="1000" i="1" dirty="0">
                <a:solidFill>
                  <a:srgbClr val="E8D49A"/>
                </a:solidFill>
                <a:latin typeface="Calibri"/>
              </a:rPr>
              <a:t>5m</a:t>
            </a:r>
            <a:r>
              <a:rPr sz="1000" b="0" i="1" dirty="0">
                <a:solidFill>
                  <a:srgbClr val="E8D49A"/>
                </a:solidFill>
                <a:latin typeface="Calibri"/>
              </a:rPr>
              <a:t>in → ~</a:t>
            </a: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3</a:t>
            </a:r>
            <a:r>
              <a:rPr sz="1000" b="0" i="1" dirty="0">
                <a:solidFill>
                  <a:srgbClr val="E8D49A"/>
                </a:solidFill>
                <a:latin typeface="Calibri"/>
              </a:rPr>
              <a:t>0s review)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0420" y="14173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51860" y="1554480"/>
            <a:ext cx="251460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C9A961"/>
                </a:solidFill>
                <a:latin typeface="Georgia"/>
              </a:rPr>
              <a:t>67%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1860" y="2606040"/>
            <a:ext cx="25146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tickets auto-drafted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3017520"/>
            <a:ext cx="2514600" cy="22083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 dirty="0">
                <a:solidFill>
                  <a:srgbClr val="E8D49A"/>
                </a:solidFill>
                <a:latin typeface="Calibri"/>
              </a:rPr>
              <a:t>from KB in </a:t>
            </a: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example dataset</a:t>
            </a:r>
            <a:r>
              <a:rPr sz="1000" b="0" i="1" dirty="0">
                <a:solidFill>
                  <a:srgbClr val="E8D49A"/>
                </a:solidFill>
                <a:latin typeface="Calibri"/>
              </a:rPr>
              <a:t>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554480"/>
            <a:ext cx="2514600" cy="77829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 dirty="0">
                <a:solidFill>
                  <a:srgbClr val="C9A961"/>
                </a:solidFill>
                <a:latin typeface="Georgia"/>
              </a:rPr>
              <a:t>33% → </a:t>
            </a:r>
            <a:r>
              <a:rPr lang="en-US" b="1" dirty="0">
                <a:solidFill>
                  <a:srgbClr val="C9A961"/>
                </a:solidFill>
                <a:latin typeface="Georgia"/>
              </a:rPr>
              <a:t>low</a:t>
            </a:r>
            <a:endParaRPr sz="4400" b="1" i="0" dirty="0">
              <a:solidFill>
                <a:srgbClr val="C9A961"/>
              </a:solidFill>
              <a:latin typeface="Georgia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63640" y="2606040"/>
            <a:ext cx="25146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dirty="0">
                <a:solidFill>
                  <a:srgbClr val="FFFFFF"/>
                </a:solidFill>
                <a:latin typeface="Calibri"/>
              </a:rPr>
              <a:t>knowledge gap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017520"/>
            <a:ext cx="2514600" cy="22083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Overtime expanded KB to reduce gaps 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83980" y="141732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75420" y="1554480"/>
            <a:ext cx="251460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C9A961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5420" y="2606040"/>
            <a:ext cx="2514600" cy="26096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campaign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ideas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surfaced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5420" y="3017520"/>
            <a:ext cx="2514600" cy="22083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1000" i="1" dirty="0">
                <a:solidFill>
                  <a:srgbClr val="E8D49A"/>
                </a:solidFill>
                <a:latin typeface="Calibri"/>
              </a:rPr>
              <a:t>D</a:t>
            </a:r>
            <a:r>
              <a:rPr sz="1000" b="0" i="1" dirty="0">
                <a:solidFill>
                  <a:srgbClr val="E8D49A"/>
                </a:solidFill>
                <a:latin typeface="Calibri"/>
              </a:rPr>
              <a:t>irect </a:t>
            </a:r>
            <a:r>
              <a:rPr lang="en-US" sz="1000" b="0" i="1" dirty="0">
                <a:solidFill>
                  <a:srgbClr val="E8D49A"/>
                </a:solidFill>
                <a:latin typeface="Calibri"/>
              </a:rPr>
              <a:t>revenue growth</a:t>
            </a:r>
            <a:endParaRPr sz="1000" b="0" i="1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48640" y="3794760"/>
            <a:ext cx="359359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79476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3200400" cy="289246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dirty="0">
                <a:solidFill>
                  <a:srgbClr val="0B1437"/>
                </a:solidFill>
                <a:latin typeface="Georgia"/>
              </a:rPr>
              <a:t>Recover ~</a:t>
            </a:r>
            <a:r>
              <a:rPr lang="en-US" sz="1500" b="1" i="0" dirty="0">
                <a:solidFill>
                  <a:srgbClr val="0B1437"/>
                </a:solidFill>
                <a:latin typeface="Georgia"/>
              </a:rPr>
              <a:t>60% of </a:t>
            </a:r>
            <a:r>
              <a:rPr sz="1500" b="1" i="0" dirty="0">
                <a:solidFill>
                  <a:srgbClr val="0B1437"/>
                </a:solidFill>
                <a:latin typeface="Georgia"/>
              </a:rPr>
              <a:t>CS </a:t>
            </a:r>
            <a:r>
              <a:rPr lang="en-US" sz="1500" b="1" i="0" dirty="0">
                <a:solidFill>
                  <a:srgbClr val="0B1437"/>
                </a:solidFill>
                <a:latin typeface="Georgia"/>
              </a:rPr>
              <a:t>bandwidth</a:t>
            </a:r>
            <a:endParaRPr sz="1500" b="1" i="0" dirty="0">
              <a:solidFill>
                <a:srgbClr val="0B1437"/>
              </a:solidFill>
              <a:latin typeface="Georgia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77240" y="4983480"/>
            <a:ext cx="3200400" cy="93108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Review-and-approve workflow replaces draft-from-scratch on routine queries. 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90% time saved on 67% of tickets i.e. assuming ticket handling as only CS job, total savings of  3 CS staff x 67% x 90% = 1.8 CS staff i.e. 60% </a:t>
            </a:r>
            <a:endParaRPr sz="1100" b="0" i="0" dirty="0">
              <a:solidFill>
                <a:srgbClr val="1F2440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270248" y="3794760"/>
            <a:ext cx="359359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70248" y="379476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98848" y="39319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206240"/>
            <a:ext cx="32004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1437"/>
                </a:solidFill>
                <a:latin typeface="Georgia"/>
              </a:rPr>
              <a:t>New marketing intelligence surface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983480"/>
            <a:ext cx="3200400" cy="12801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Monthly brief surfaces unmet demand (multi-script engraving, child safety, sustainability) — each is a copy / FAQ change that lifts conversion on pages customers already visit.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3794760"/>
            <a:ext cx="359359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91856" y="3794760"/>
            <a:ext cx="359359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0456" y="39319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RETENTION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4206240"/>
            <a:ext cx="32004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1437"/>
                </a:solidFill>
                <a:latin typeface="Georgia"/>
              </a:rPr>
              <a:t>Loyalty signal from owner_aftercare cluster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4983480"/>
            <a:ext cx="3200400" cy="12801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17% of April tickets are existing owners asking about servicing. Faster, consistent answers protect lifetime value and feed an upsell path to Premium Service (SGD 220).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§4  ·  COST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dirty="0">
                <a:solidFill>
                  <a:srgbClr val="0B1437"/>
                </a:solidFill>
                <a:latin typeface="Georgia"/>
              </a:rPr>
              <a:t>Under SGD </a:t>
            </a:r>
            <a:r>
              <a:rPr lang="en-US" sz="3000" b="1" dirty="0">
                <a:solidFill>
                  <a:srgbClr val="0B1437"/>
                </a:solidFill>
                <a:latin typeface="Georgia"/>
              </a:rPr>
              <a:t>2</a:t>
            </a:r>
            <a:r>
              <a:rPr sz="3000" b="1" i="0" dirty="0">
                <a:solidFill>
                  <a:srgbClr val="0B1437"/>
                </a:solidFill>
                <a:latin typeface="Georgia"/>
              </a:rPr>
              <a:t>0/month — recovers ~</a:t>
            </a: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$3-5k per month</a:t>
            </a:r>
            <a:endParaRPr sz="3000" b="1" i="0" dirty="0">
              <a:solidFill>
                <a:srgbClr val="0B1437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64008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6400800" cy="45720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32651"/>
            <a:ext cx="6126480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C9A961"/>
                </a:solidFill>
                <a:latin typeface="Calibri"/>
              </a:rPr>
              <a:t>MONTHLY COST BREAKDOWN  ·  BOLDR-SCALE OPERATION</a:t>
            </a:r>
            <a:r>
              <a:rPr lang="en-US" sz="1100" b="1" i="0" dirty="0">
                <a:solidFill>
                  <a:srgbClr val="C9A961"/>
                </a:solidFill>
                <a:latin typeface="Calibri"/>
              </a:rPr>
              <a:t> (CUSTOMER SUPPORT ONLY)</a:t>
            </a:r>
            <a:endParaRPr sz="1100" b="1" i="0" dirty="0">
              <a:solidFill>
                <a:srgbClr val="C9A96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2402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65960"/>
            <a:ext cx="100584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965960"/>
            <a:ext cx="10972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Monthly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65960"/>
            <a:ext cx="17830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286000"/>
            <a:ext cx="6080760" cy="18288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22402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82C"/>
                </a:solidFill>
                <a:latin typeface="Calibri"/>
              </a:rPr>
              <a:t>n8n (workflow host)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23160"/>
            <a:ext cx="100584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2347" y="2492771"/>
            <a:ext cx="1628293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23160"/>
            <a:ext cx="17830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088"/>
                </a:solidFill>
                <a:latin typeface="Calibri"/>
              </a:rPr>
              <a:t>Free tier covers Boldr volume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807208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843784"/>
            <a:ext cx="22402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dirty="0">
                <a:solidFill>
                  <a:srgbClr val="14182C"/>
                </a:solidFill>
                <a:latin typeface="Calibri"/>
              </a:rPr>
              <a:t>Qwen3-32B (FPT AI Factory)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843784"/>
            <a:ext cx="100584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2347" y="2913395"/>
            <a:ext cx="1628293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~$15–25</a:t>
            </a:r>
            <a:r>
              <a:rPr lang="en-US" sz="1100" b="1" i="0" dirty="0">
                <a:solidFill>
                  <a:srgbClr val="0B1437"/>
                </a:solidFill>
                <a:latin typeface="Calibri"/>
              </a:rPr>
              <a:t> (high estimate)</a:t>
            </a:r>
            <a:endParaRPr sz="11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120640" y="2922020"/>
            <a:ext cx="1783080" cy="20928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0" i="1" dirty="0">
                <a:solidFill>
                  <a:srgbClr val="6B7088"/>
                </a:solidFill>
                <a:latin typeface="Calibri"/>
              </a:rPr>
              <a:t>Costs &lt;$1 per 1000 queries</a:t>
            </a:r>
            <a:endParaRPr sz="1000" b="0" i="1" dirty="0">
              <a:solidFill>
                <a:srgbClr val="6B7088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77240" y="3227832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264408"/>
            <a:ext cx="22402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82C"/>
                </a:solidFill>
                <a:latin typeface="Calibri"/>
              </a:rPr>
              <a:t>Embeddings (KB vectors)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64408"/>
            <a:ext cx="100584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2347" y="3334019"/>
            <a:ext cx="1628293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~$2</a:t>
            </a:r>
            <a:r>
              <a:rPr lang="en-US" sz="1100" b="1" i="0" dirty="0">
                <a:solidFill>
                  <a:srgbClr val="0B1437"/>
                </a:solidFill>
                <a:latin typeface="Calibri"/>
              </a:rPr>
              <a:t>-5 </a:t>
            </a:r>
            <a:endParaRPr sz="1100" b="1" i="0" dirty="0">
              <a:solidFill>
                <a:srgbClr val="0B1437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20640" y="3250311"/>
            <a:ext cx="1783080" cy="393954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0" i="1" dirty="0">
                <a:solidFill>
                  <a:srgbClr val="6B7088"/>
                </a:solidFill>
                <a:latin typeface="Calibri"/>
              </a:rPr>
              <a:t>1-2x</a:t>
            </a:r>
            <a:r>
              <a:rPr sz="1000" b="0" i="1" dirty="0">
                <a:solidFill>
                  <a:srgbClr val="6B7088"/>
                </a:solidFill>
                <a:latin typeface="Calibri"/>
              </a:rPr>
              <a:t> index + </a:t>
            </a:r>
            <a:r>
              <a:rPr lang="en-US" sz="1000" b="0" i="1" dirty="0">
                <a:solidFill>
                  <a:srgbClr val="6B7088"/>
                </a:solidFill>
                <a:latin typeface="Calibri"/>
              </a:rPr>
              <a:t>KB</a:t>
            </a:r>
            <a:r>
              <a:rPr sz="1000" b="0" i="1" dirty="0">
                <a:solidFill>
                  <a:srgbClr val="6B7088"/>
                </a:solidFill>
                <a:latin typeface="Calibri"/>
              </a:rPr>
              <a:t> refresh</a:t>
            </a:r>
            <a:r>
              <a:rPr lang="en-US" sz="1000" b="0" i="1" dirty="0">
                <a:solidFill>
                  <a:srgbClr val="6B7088"/>
                </a:solidFill>
                <a:latin typeface="Calibri"/>
              </a:rPr>
              <a:t> per month</a:t>
            </a:r>
            <a:endParaRPr sz="1000" b="0" i="1" dirty="0">
              <a:solidFill>
                <a:srgbClr val="6B7088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7240" y="3648456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685032"/>
            <a:ext cx="22402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82C"/>
                </a:solidFill>
                <a:latin typeface="Calibri"/>
              </a:rPr>
              <a:t>Google Sheets / Slack / Gmail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685032"/>
            <a:ext cx="100584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2347" y="3754643"/>
            <a:ext cx="1628293" cy="226537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0B1437"/>
                </a:solidFill>
                <a:latin typeface="Calibri"/>
              </a:rP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685032"/>
            <a:ext cx="1783080" cy="36576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088"/>
                </a:solidFill>
                <a:latin typeface="Calibri"/>
              </a:rPr>
              <a:t>Existing Boldr stack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069080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" y="4489704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77240" y="4910328"/>
            <a:ext cx="6080760" cy="9144"/>
          </a:xfrm>
          <a:prstGeom prst="rect">
            <a:avLst/>
          </a:prstGeom>
          <a:solidFill>
            <a:srgbClr val="D3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77240" y="4992624"/>
            <a:ext cx="6080760" cy="5029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8680" y="4992624"/>
            <a:ext cx="210312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TOTAL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099461"/>
            <a:ext cx="2148840" cy="289246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 dirty="0">
                <a:solidFill>
                  <a:srgbClr val="C9A961"/>
                </a:solidFill>
                <a:latin typeface="Georgia"/>
              </a:rPr>
              <a:t>≈ </a:t>
            </a:r>
            <a:r>
              <a:rPr lang="en-US" sz="1500" b="1" i="0" dirty="0">
                <a:solidFill>
                  <a:srgbClr val="C9A961"/>
                </a:solidFill>
                <a:latin typeface="Georgia"/>
              </a:rPr>
              <a:t>&lt;</a:t>
            </a:r>
            <a:r>
              <a:rPr sz="1500" b="1" i="0" dirty="0">
                <a:solidFill>
                  <a:srgbClr val="C9A961"/>
                </a:solidFill>
                <a:latin typeface="Georgia"/>
              </a:rPr>
              <a:t>SGD </a:t>
            </a:r>
            <a:r>
              <a:rPr lang="en-US" sz="1500" b="1" i="0" dirty="0">
                <a:solidFill>
                  <a:srgbClr val="C9A961"/>
                </a:solidFill>
                <a:latin typeface="Georgia"/>
              </a:rPr>
              <a:t>20</a:t>
            </a:r>
            <a:endParaRPr sz="1500" b="1" i="0" dirty="0">
              <a:solidFill>
                <a:srgbClr val="C9A961"/>
              </a:solidFill>
              <a:latin typeface="Georgia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20640" y="4992624"/>
            <a:ext cx="178308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B1437"/>
                </a:solidFill>
                <a:latin typeface="Calibri"/>
              </a:rPr>
              <a:t>all-in, monthly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86600" y="1417320"/>
            <a:ext cx="4572000" cy="4846320"/>
          </a:xfrm>
          <a:prstGeom prst="roundRect">
            <a:avLst>
              <a:gd name="adj" fmla="val 4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5200" y="1600200"/>
            <a:ext cx="4114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RETURN ON INVESTMENT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011680"/>
            <a:ext cx="4114800" cy="6424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dirty="0">
                <a:solidFill>
                  <a:srgbClr val="FFFFFF"/>
                </a:solidFill>
                <a:latin typeface="Georgia"/>
              </a:rPr>
              <a:t>~</a:t>
            </a:r>
            <a:r>
              <a:rPr lang="en-US" sz="3600" b="1" i="0" dirty="0">
                <a:solidFill>
                  <a:srgbClr val="FFFFFF"/>
                </a:solidFill>
                <a:latin typeface="Georgia"/>
              </a:rPr>
              <a:t>60% or 100</a:t>
            </a:r>
            <a:r>
              <a:rPr sz="36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3600" b="1" i="0" dirty="0" err="1">
                <a:solidFill>
                  <a:srgbClr val="FFFFFF"/>
                </a:solidFill>
                <a:latin typeface="Georgia"/>
              </a:rPr>
              <a:t>hrs</a:t>
            </a:r>
            <a:endParaRPr sz="36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315200" y="2926080"/>
            <a:ext cx="4114800" cy="465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E8D49A"/>
                </a:solidFill>
                <a:latin typeface="Calibri"/>
              </a:rPr>
              <a:t>of CS time recovered per </a:t>
            </a:r>
            <a:r>
              <a:rPr lang="en-US" sz="1200" b="0" i="0" dirty="0">
                <a:solidFill>
                  <a:srgbClr val="E8D49A"/>
                </a:solidFill>
                <a:latin typeface="Calibri"/>
              </a:rPr>
              <a:t>month (SGD $5.4K assuming monthly salary of $3k/ CS; even at 50% discount est. savings of $2.7k) </a:t>
            </a:r>
            <a:endParaRPr sz="1200" b="0" i="0" dirty="0">
              <a:solidFill>
                <a:srgbClr val="E8D49A"/>
              </a:solidFill>
              <a:latin typeface="Calibr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315200" y="3520440"/>
            <a:ext cx="4114800" cy="1828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315200" y="3749039"/>
            <a:ext cx="137160" cy="13716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43800" y="3657600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Scales free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3950208"/>
            <a:ext cx="393192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Sub-linear cost — most growth absorbed by free-tier headroom.</a:t>
            </a:r>
          </a:p>
        </p:txBody>
      </p:sp>
      <p:sp>
        <p:nvSpPr>
          <p:cNvPr id="55" name="Oval 54"/>
          <p:cNvSpPr/>
          <p:nvPr/>
        </p:nvSpPr>
        <p:spPr>
          <a:xfrm>
            <a:off x="7315200" y="4389120"/>
            <a:ext cx="137160" cy="13716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43800" y="4297680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Sponsor credits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43800" y="4590288"/>
            <a:ext cx="393192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FPT AI Factory covers inference cost during competition + early pilot.</a:t>
            </a:r>
          </a:p>
        </p:txBody>
      </p:sp>
      <p:sp>
        <p:nvSpPr>
          <p:cNvPr id="58" name="Oval 57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543800" y="4937760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headcount needed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3800" y="5230368"/>
            <a:ext cx="393192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Replaces a hire, not a person — 3-person CS team keeps full ownership.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0" y="5669280"/>
            <a:ext cx="137160" cy="13716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543800" y="5577840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Commercial fallback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43800" y="5870448"/>
            <a:ext cx="393192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E8D49A"/>
                </a:solidFill>
                <a:latin typeface="Calibri"/>
              </a:rPr>
              <a:t>If FPT credits end, Qwen3-32B at OpenAI-</a:t>
            </a:r>
            <a:r>
              <a:rPr sz="1000" b="0" i="0" dirty="0" err="1">
                <a:solidFill>
                  <a:srgbClr val="E8D49A"/>
                </a:solidFill>
                <a:latin typeface="Calibri"/>
              </a:rPr>
              <a:t>compat</a:t>
            </a:r>
            <a:r>
              <a:rPr sz="1000" b="0" i="0" dirty="0">
                <a:solidFill>
                  <a:srgbClr val="E8D49A"/>
                </a:solidFill>
                <a:latin typeface="Calibri"/>
              </a:rPr>
              <a:t> rates stays cheaper than GPT-4o-mini for this volume.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§5  ·  SAFEGUARDS &amp; HUMAN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B1437"/>
                </a:solidFill>
                <a:latin typeface="Georgia"/>
              </a:rPr>
              <a:t>Responsible AI is the architecture, not a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auto-send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50876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3291840" cy="93108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Every AI-drafted reply enters a 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Telegram CS </a:t>
            </a:r>
            <a:r>
              <a:rPr sz="1100" b="0" i="0" dirty="0">
                <a:solidFill>
                  <a:srgbClr val="1F2440"/>
                </a:solidFill>
                <a:latin typeface="Calibri"/>
              </a:rPr>
              <a:t>queue. CS clicks Approve / Reject before 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it</a:t>
            </a:r>
            <a:r>
              <a:rPr sz="1100" b="0" i="0" dirty="0">
                <a:solidFill>
                  <a:srgbClr val="1F2440"/>
                </a:solidFill>
                <a:latin typeface="Calibri"/>
              </a:rPr>
              <a:t> sends anything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 to customer</a:t>
            </a:r>
            <a:r>
              <a:rPr sz="1100" b="0" i="0" dirty="0">
                <a:solidFill>
                  <a:srgbClr val="1F2440"/>
                </a:solidFill>
                <a:latin typeface="Calibri"/>
              </a:rPr>
              <a:t>.</a:t>
            </a: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 For rejects, it enters Google sheets which serves as updated KB for future similar tickets</a:t>
            </a:r>
            <a:endParaRPr sz="1100" b="0" i="0" dirty="0">
              <a:solidFill>
                <a:srgbClr val="1F2440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70248" y="141732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70248" y="141732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18888" y="141732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hallucination</a:t>
            </a:r>
          </a:p>
        </p:txBody>
      </p:sp>
      <p:sp>
        <p:nvSpPr>
          <p:cNvPr id="14" name="Oval 13"/>
          <p:cNvSpPr/>
          <p:nvPr/>
        </p:nvSpPr>
        <p:spPr>
          <a:xfrm>
            <a:off x="4407408" y="150876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8" y="150876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20240"/>
            <a:ext cx="3291840" cy="17830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If KB confidence &lt; 0.75, the engine never drafts an answer. The ticket routes to a human queue with full context — silence is preferred to invention.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141732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91856" y="141732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40496" y="141732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auto-publish to KB</a:t>
            </a:r>
          </a:p>
        </p:txBody>
      </p:sp>
      <p:sp>
        <p:nvSpPr>
          <p:cNvPr id="20" name="Oval 19"/>
          <p:cNvSpPr/>
          <p:nvPr/>
        </p:nvSpPr>
        <p:spPr>
          <a:xfrm>
            <a:off x="8129016" y="150876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150876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920240"/>
            <a:ext cx="3291840" cy="70256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100" b="0" i="0" dirty="0">
                <a:solidFill>
                  <a:srgbClr val="1F2440"/>
                </a:solidFill>
                <a:latin typeface="Calibri"/>
              </a:rPr>
              <a:t>CS </a:t>
            </a:r>
            <a:r>
              <a:rPr lang="en-US" sz="1100" dirty="0">
                <a:solidFill>
                  <a:srgbClr val="1F2440"/>
                </a:solidFill>
                <a:latin typeface="Calibri"/>
              </a:rPr>
              <a:t>generated replies to current non-KB responses are stored in </a:t>
            </a:r>
            <a:r>
              <a:rPr lang="en-US" sz="1100" dirty="0" err="1">
                <a:solidFill>
                  <a:srgbClr val="1F2440"/>
                </a:solidFill>
                <a:latin typeface="Calibri"/>
              </a:rPr>
              <a:t>Gsheets</a:t>
            </a:r>
            <a:r>
              <a:rPr lang="en-US" sz="1100" dirty="0">
                <a:solidFill>
                  <a:srgbClr val="1F2440"/>
                </a:solidFill>
                <a:latin typeface="Calibri"/>
              </a:rPr>
              <a:t>- KB updated periodically with supervisor finalizing the updates</a:t>
            </a:r>
            <a:endParaRPr sz="1100" b="0" i="0" dirty="0">
              <a:solidFill>
                <a:srgbClr val="1F2440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48640" y="388620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388620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388620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PII boundary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397764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97764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389120"/>
            <a:ext cx="3291840" cy="70256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Tickets stay in </a:t>
            </a:r>
            <a:r>
              <a:rPr sz="1100" b="0" i="0" dirty="0" err="1">
                <a:solidFill>
                  <a:srgbClr val="1F2440"/>
                </a:solidFill>
                <a:latin typeface="Calibri"/>
              </a:rPr>
              <a:t>Boldr's</a:t>
            </a:r>
            <a:r>
              <a:rPr sz="1100" b="0" i="0" dirty="0">
                <a:solidFill>
                  <a:srgbClr val="1F2440"/>
                </a:solidFill>
                <a:latin typeface="Calibri"/>
              </a:rPr>
              <a:t> Workspace. Only message body is sent to the LLM; order IDs are extracted locally and not forwarded where avoidable.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388620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70248" y="388620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18888" y="388620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Pricing safety</a:t>
            </a:r>
          </a:p>
        </p:txBody>
      </p:sp>
      <p:sp>
        <p:nvSpPr>
          <p:cNvPr id="32" name="Oval 31"/>
          <p:cNvSpPr/>
          <p:nvPr/>
        </p:nvSpPr>
        <p:spPr>
          <a:xfrm>
            <a:off x="4407408" y="397764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07408" y="397764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4389120"/>
            <a:ext cx="3291840" cy="17830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Where the SOP conflicts with the rate card (e.g. SGD 35 vs SGD 40 for engraving), the rate card is authoritative — caught and codified in the KB.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91856" y="3886200"/>
            <a:ext cx="36576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991856" y="3886200"/>
            <a:ext cx="3657600" cy="411480"/>
          </a:xfrm>
          <a:prstGeom prst="rect">
            <a:avLst/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3886200"/>
            <a:ext cx="3017520" cy="4114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38" name="Oval 37"/>
          <p:cNvSpPr/>
          <p:nvPr/>
        </p:nvSpPr>
        <p:spPr>
          <a:xfrm>
            <a:off x="8129016" y="3977640"/>
            <a:ext cx="228600" cy="22860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29016" y="3977640"/>
            <a:ext cx="228600" cy="22860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437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4736" y="4389120"/>
            <a:ext cx="3291840" cy="17830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1F2440"/>
                </a:solidFill>
                <a:latin typeface="Calibri"/>
              </a:rPr>
              <a:t>Every classification, KB match, draft, and approval is logged to Google Sheets with timestamp. CS can trace any decision the engine made.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§6  ·  PROOF OF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Architecture: </a:t>
            </a:r>
            <a:r>
              <a:rPr sz="3000" b="1" i="0" dirty="0">
                <a:solidFill>
                  <a:srgbClr val="0B1437"/>
                </a:solidFill>
                <a:latin typeface="Georgia"/>
              </a:rPr>
              <a:t>Live in n8n, public repo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6053328"/>
            <a:ext cx="493776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 dirty="0">
                <a:solidFill>
                  <a:srgbClr val="2C8A5D"/>
                </a:solidFill>
                <a:latin typeface="Calibri"/>
              </a:rPr>
              <a:t>Validated live: Vikram Allen BPA ticket → </a:t>
            </a:r>
            <a:r>
              <a:rPr sz="1100" b="1" i="1" dirty="0" err="1">
                <a:solidFill>
                  <a:srgbClr val="2C8A5D"/>
                </a:solidFill>
                <a:latin typeface="Calibri"/>
              </a:rPr>
              <a:t>health_conscious</a:t>
            </a:r>
            <a:r>
              <a:rPr sz="1100" b="1" i="1" dirty="0">
                <a:solidFill>
                  <a:srgbClr val="2C8A5D"/>
                </a:solidFill>
                <a:latin typeface="Calibri"/>
              </a:rPr>
              <a:t> 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73701" y="6419088"/>
            <a:ext cx="2543078" cy="226537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FF0000"/>
                </a:solidFill>
                <a:latin typeface="Calibri"/>
              </a:rPr>
              <a:t>Public repo</a:t>
            </a:r>
            <a:r>
              <a:rPr lang="en-US" sz="1100" b="1" i="0" dirty="0">
                <a:solidFill>
                  <a:srgbClr val="FF0000"/>
                </a:solidFill>
                <a:latin typeface="Calibri"/>
              </a:rPr>
              <a:t> Link:</a:t>
            </a:r>
            <a:endParaRPr sz="1100" b="1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522722" y="6419088"/>
            <a:ext cx="4196078" cy="20839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dirty="0" err="1">
                <a:solidFill>
                  <a:srgbClr val="FF0000"/>
                </a:solidFill>
                <a:latin typeface="Consolas"/>
              </a:rPr>
              <a:t>tejasdotchavan</a:t>
            </a:r>
            <a:r>
              <a:rPr sz="1000" b="0" i="0" dirty="0">
                <a:solidFill>
                  <a:srgbClr val="FF0000"/>
                </a:solidFill>
                <a:latin typeface="Consolas"/>
              </a:rPr>
              <a:t>/e27-boldr-challenge-AlphaBeta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11 / 14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C5431FA-B677-48A5-EFF4-D9BA112A8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88" t="54073" r="8775" b="6660"/>
          <a:stretch>
            <a:fillRect/>
          </a:stretch>
        </p:blipFill>
        <p:spPr>
          <a:xfrm>
            <a:off x="45720" y="2111740"/>
            <a:ext cx="12366126" cy="337466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0356FF0-B17B-5D33-403F-C60023EA634E}"/>
              </a:ext>
            </a:extLst>
          </p:cNvPr>
          <p:cNvSpPr txBox="1"/>
          <p:nvPr/>
        </p:nvSpPr>
        <p:spPr>
          <a:xfrm>
            <a:off x="822960" y="2475924"/>
            <a:ext cx="128524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Receive customer Query passed to AI along with KB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C044E3-2050-9244-A46A-F97383E82C09}"/>
              </a:ext>
            </a:extLst>
          </p:cNvPr>
          <p:cNvSpPr txBox="1"/>
          <p:nvPr/>
        </p:nvSpPr>
        <p:spPr>
          <a:xfrm>
            <a:off x="2606040" y="2275766"/>
            <a:ext cx="18262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AI identifies Category of case, persona, KB retrieval, potential response (only for available KB)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FABC31-4E20-247F-BABB-BD651465446F}"/>
              </a:ext>
            </a:extLst>
          </p:cNvPr>
          <p:cNvSpPr txBox="1"/>
          <p:nvPr/>
        </p:nvSpPr>
        <p:spPr>
          <a:xfrm>
            <a:off x="9733280" y="2060322"/>
            <a:ext cx="1285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Get CS to approve message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4622AE1-4E02-413F-33D8-7B43CD58A454}"/>
              </a:ext>
            </a:extLst>
          </p:cNvPr>
          <p:cNvSpPr txBox="1"/>
          <p:nvPr/>
        </p:nvSpPr>
        <p:spPr>
          <a:xfrm>
            <a:off x="5329556" y="1643896"/>
            <a:ext cx="6582410" cy="1785104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IF high confidence of KB response</a:t>
            </a: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A5E634-9711-DB44-E14A-A30D1ED5E1C0}"/>
              </a:ext>
            </a:extLst>
          </p:cNvPr>
          <p:cNvSpPr txBox="1"/>
          <p:nvPr/>
        </p:nvSpPr>
        <p:spPr>
          <a:xfrm>
            <a:off x="5329556" y="3548896"/>
            <a:ext cx="6582410" cy="1785104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IF low confidence of KB response</a:t>
            </a: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C146-D1EA-63B2-B642-361CCE38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274294-C0F6-0A83-1998-FB2AC77BED12}"/>
              </a:ext>
            </a:extLst>
          </p:cNvPr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SUBMISSION §6  ·  PROOF OF EXECUTION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79742-5838-24BC-077E-886DED8BF0A5}"/>
              </a:ext>
            </a:extLst>
          </p:cNvPr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Architecture: </a:t>
            </a:r>
            <a:r>
              <a:rPr sz="3000" b="1" i="0" dirty="0">
                <a:solidFill>
                  <a:srgbClr val="0B1437"/>
                </a:solidFill>
                <a:latin typeface="Georgia"/>
              </a:rPr>
              <a:t>Live in n8n, public repo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D6370-5911-F404-19A7-A2FC2D14F62E}"/>
              </a:ext>
            </a:extLst>
          </p:cNvPr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20384F-136C-342E-416C-D77541DBAB9F}"/>
              </a:ext>
            </a:extLst>
          </p:cNvPr>
          <p:cNvSpPr txBox="1"/>
          <p:nvPr/>
        </p:nvSpPr>
        <p:spPr>
          <a:xfrm>
            <a:off x="777240" y="6053328"/>
            <a:ext cx="493776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 dirty="0">
                <a:solidFill>
                  <a:srgbClr val="2C8A5D"/>
                </a:solidFill>
                <a:latin typeface="Calibri"/>
              </a:rPr>
              <a:t>Validated live: Vikram Allen BPA ticket → </a:t>
            </a:r>
            <a:r>
              <a:rPr sz="1100" b="1" i="1" dirty="0" err="1">
                <a:solidFill>
                  <a:srgbClr val="2C8A5D"/>
                </a:solidFill>
                <a:latin typeface="Calibri"/>
              </a:rPr>
              <a:t>health_conscious</a:t>
            </a:r>
            <a:r>
              <a:rPr sz="1100" b="1" i="1" dirty="0">
                <a:solidFill>
                  <a:srgbClr val="2C8A5D"/>
                </a:solidFill>
                <a:latin typeface="Calibri"/>
              </a:rPr>
              <a:t> ✓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F301F6-37FC-35A5-C7BD-4031CE6640BA}"/>
              </a:ext>
            </a:extLst>
          </p:cNvPr>
          <p:cNvSpPr txBox="1"/>
          <p:nvPr/>
        </p:nvSpPr>
        <p:spPr>
          <a:xfrm>
            <a:off x="5473701" y="6419088"/>
            <a:ext cx="2543078" cy="226537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FF0000"/>
                </a:solidFill>
                <a:latin typeface="Calibri"/>
              </a:rPr>
              <a:t>Public repo</a:t>
            </a:r>
            <a:r>
              <a:rPr lang="en-US" sz="1100" b="1" i="0" dirty="0">
                <a:solidFill>
                  <a:srgbClr val="FF0000"/>
                </a:solidFill>
                <a:latin typeface="Calibri"/>
              </a:rPr>
              <a:t> Link:</a:t>
            </a:r>
            <a:endParaRPr sz="1100" b="1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8C63E-2D53-6A25-323D-2D7465606294}"/>
              </a:ext>
            </a:extLst>
          </p:cNvPr>
          <p:cNvSpPr txBox="1"/>
          <p:nvPr/>
        </p:nvSpPr>
        <p:spPr>
          <a:xfrm>
            <a:off x="6522722" y="6419088"/>
            <a:ext cx="4196078" cy="20839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dirty="0" err="1">
                <a:solidFill>
                  <a:srgbClr val="FF0000"/>
                </a:solidFill>
                <a:latin typeface="Consolas"/>
              </a:rPr>
              <a:t>tejasdotchavan</a:t>
            </a:r>
            <a:r>
              <a:rPr sz="1000" b="0" i="0" dirty="0">
                <a:solidFill>
                  <a:srgbClr val="FF0000"/>
                </a:solidFill>
                <a:latin typeface="Consolas"/>
              </a:rPr>
              <a:t>/e27-boldr-challenge-AlphaBeta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7E7434-3575-06DC-5C73-D546C84262C1}"/>
              </a:ext>
            </a:extLst>
          </p:cNvPr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CB16D7-3913-68CD-7D05-9130AEF974D6}"/>
              </a:ext>
            </a:extLst>
          </p:cNvPr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11 / 14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94A1F78-6FAB-A11B-B2B5-042956648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178" t="10338" r="-2766" b="50395"/>
          <a:stretch>
            <a:fillRect/>
          </a:stretch>
        </p:blipFill>
        <p:spPr>
          <a:xfrm>
            <a:off x="3632200" y="2111740"/>
            <a:ext cx="8779646" cy="337466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41D80E3-78AC-15DD-86BB-397CEDD559A2}"/>
              </a:ext>
            </a:extLst>
          </p:cNvPr>
          <p:cNvSpPr txBox="1"/>
          <p:nvPr/>
        </p:nvSpPr>
        <p:spPr>
          <a:xfrm>
            <a:off x="1805940" y="3088471"/>
            <a:ext cx="182626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CS gets a message to approve or decline AI generated draft response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EA79F-796D-323D-75D6-A2E8E783436E}"/>
              </a:ext>
            </a:extLst>
          </p:cNvPr>
          <p:cNvSpPr txBox="1"/>
          <p:nvPr/>
        </p:nvSpPr>
        <p:spPr>
          <a:xfrm>
            <a:off x="6474462" y="1861792"/>
            <a:ext cx="1285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Customer receives reply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54025E-4D4B-A20E-958D-01C7DD82226F}"/>
              </a:ext>
            </a:extLst>
          </p:cNvPr>
          <p:cNvSpPr txBox="1"/>
          <p:nvPr/>
        </p:nvSpPr>
        <p:spPr>
          <a:xfrm>
            <a:off x="5329556" y="1395700"/>
            <a:ext cx="6582410" cy="2123658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IF CS approves sending of response</a:t>
            </a: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D02D7A-72D6-703C-CCB5-FCF983954922}"/>
              </a:ext>
            </a:extLst>
          </p:cNvPr>
          <p:cNvSpPr txBox="1"/>
          <p:nvPr/>
        </p:nvSpPr>
        <p:spPr>
          <a:xfrm>
            <a:off x="5329556" y="3586996"/>
            <a:ext cx="6582410" cy="1785104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IF CS rejects, add the response to </a:t>
            </a:r>
            <a:r>
              <a:rPr lang="en-US" sz="1100" dirty="0" err="1">
                <a:solidFill>
                  <a:srgbClr val="FF0000"/>
                </a:solidFill>
              </a:rPr>
              <a:t>Gsheet</a:t>
            </a:r>
            <a:r>
              <a:rPr lang="en-US" sz="1100" dirty="0">
                <a:solidFill>
                  <a:srgbClr val="FF0000"/>
                </a:solidFill>
              </a:rPr>
              <a:t> for escalation review and notify CS of rejected response</a:t>
            </a: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  <a:p>
            <a:pPr algn="ctr"/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814A6-239A-7CDB-C3D7-ABA54974418F}"/>
              </a:ext>
            </a:extLst>
          </p:cNvPr>
          <p:cNvSpPr txBox="1"/>
          <p:nvPr/>
        </p:nvSpPr>
        <p:spPr>
          <a:xfrm>
            <a:off x="8100062" y="1861792"/>
            <a:ext cx="1285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Reply logged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92FB-CAE5-0579-5B95-C565A664EE59}"/>
              </a:ext>
            </a:extLst>
          </p:cNvPr>
          <p:cNvSpPr txBox="1"/>
          <p:nvPr/>
        </p:nvSpPr>
        <p:spPr>
          <a:xfrm>
            <a:off x="9560562" y="1861792"/>
            <a:ext cx="1285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CS alerted of response sent</a:t>
            </a:r>
          </a:p>
        </p:txBody>
      </p:sp>
    </p:spTree>
    <p:extLst>
      <p:ext uri="{BB962C8B-B14F-4D97-AF65-F5344CB8AC3E}">
        <p14:creationId xmlns:p14="http://schemas.microsoft.com/office/powerpoint/2010/main" val="1638635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DBFC-0223-606D-D3C2-58BF35747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CDB60D-A224-D264-D26A-C8E599D6AB4E}"/>
              </a:ext>
            </a:extLst>
          </p:cNvPr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BONUS  ·  EXTERNAL SENTIMENT BENCHMARKING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16751-CC66-4CC1-12C0-28F8F68B104E}"/>
              </a:ext>
            </a:extLst>
          </p:cNvPr>
          <p:cNvSpPr txBox="1"/>
          <p:nvPr/>
        </p:nvSpPr>
        <p:spPr>
          <a:xfrm>
            <a:off x="548640" y="566928"/>
            <a:ext cx="10972800" cy="54149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3000" b="1" i="0" dirty="0">
                <a:solidFill>
                  <a:srgbClr val="0B1437"/>
                </a:solidFill>
                <a:latin typeface="Georgia"/>
              </a:rPr>
              <a:t>Creating marketing ideas</a:t>
            </a:r>
            <a:endParaRPr sz="3000" b="1" i="0" dirty="0">
              <a:solidFill>
                <a:srgbClr val="0B1437"/>
              </a:solidFill>
              <a:latin typeface="Georg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AEC918-D2D9-68BD-9747-BBBBA3B491FA}"/>
              </a:ext>
            </a:extLst>
          </p:cNvPr>
          <p:cNvSpPr/>
          <p:nvPr/>
        </p:nvSpPr>
        <p:spPr>
          <a:xfrm>
            <a:off x="548640" y="1143000"/>
            <a:ext cx="5486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0C14C51-5BFD-B174-C14B-972C178AA69F}"/>
              </a:ext>
            </a:extLst>
          </p:cNvPr>
          <p:cNvSpPr/>
          <p:nvPr/>
        </p:nvSpPr>
        <p:spPr>
          <a:xfrm>
            <a:off x="548640" y="1417320"/>
            <a:ext cx="5233654" cy="640080"/>
          </a:xfrm>
          <a:prstGeom prst="roundRect">
            <a:avLst>
              <a:gd name="adj" fmla="val 25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D99116-0352-B2E6-2128-D11D147921EE}"/>
              </a:ext>
            </a:extLst>
          </p:cNvPr>
          <p:cNvSpPr txBox="1"/>
          <p:nvPr/>
        </p:nvSpPr>
        <p:spPr>
          <a:xfrm>
            <a:off x="777240" y="1463040"/>
            <a:ext cx="182880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SOURCES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B8847-9DE9-2DB3-5ED1-844BCA1109CF}"/>
              </a:ext>
            </a:extLst>
          </p:cNvPr>
          <p:cNvSpPr txBox="1"/>
          <p:nvPr/>
        </p:nvSpPr>
        <p:spPr>
          <a:xfrm>
            <a:off x="2468880" y="1601264"/>
            <a:ext cx="8961120" cy="22647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dirty="0">
                <a:solidFill>
                  <a:srgbClr val="FFFFFF"/>
                </a:solidFill>
                <a:latin typeface="Calibri"/>
              </a:rPr>
              <a:t>r/Watches  ·</a:t>
            </a: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 Google Trends</a:t>
            </a:r>
            <a:r>
              <a:rPr sz="1100" b="0" i="0" dirty="0">
                <a:solidFill>
                  <a:srgbClr val="FFFFFF"/>
                </a:solidFill>
                <a:latin typeface="Calibri"/>
              </a:rPr>
              <a:t> ·  competitor review pages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5B4FF1-CC01-432C-8A2A-585EC71A8B3D}"/>
              </a:ext>
            </a:extLst>
          </p:cNvPr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Team AlphaBeta  ·  Boldr Self-Improving Customer Intelligence Engine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6B8F72-75C8-10BE-2039-1980AE44C0A9}"/>
              </a:ext>
            </a:extLst>
          </p:cNvPr>
          <p:cNvSpPr txBox="1"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B7088"/>
                </a:solidFill>
                <a:latin typeface="Calibri"/>
              </a:rPr>
              <a:t>12 / 14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238AFB8-9218-5F1A-0B66-8CD659F99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81396"/>
            <a:ext cx="5647706" cy="4756801"/>
          </a:xfrm>
          <a:prstGeom prst="rect">
            <a:avLst/>
          </a:prstGeom>
        </p:spPr>
      </p:pic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40D9036-8D20-943D-EF00-1412585415EF}"/>
              </a:ext>
            </a:extLst>
          </p:cNvPr>
          <p:cNvSpPr/>
          <p:nvPr/>
        </p:nvSpPr>
        <p:spPr>
          <a:xfrm>
            <a:off x="548640" y="2114837"/>
            <a:ext cx="5233654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57B7492-E4D4-9F60-DCCA-700D507A4E2F}"/>
              </a:ext>
            </a:extLst>
          </p:cNvPr>
          <p:cNvSpPr/>
          <p:nvPr/>
        </p:nvSpPr>
        <p:spPr>
          <a:xfrm>
            <a:off x="548640" y="2114837"/>
            <a:ext cx="523365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7F8ED2-1A9B-AA2B-F9D6-211A9F7C550C}"/>
              </a:ext>
            </a:extLst>
          </p:cNvPr>
          <p:cNvSpPr txBox="1"/>
          <p:nvPr/>
        </p:nvSpPr>
        <p:spPr>
          <a:xfrm>
            <a:off x="731520" y="2238505"/>
            <a:ext cx="4841130" cy="255583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1437"/>
                </a:solidFill>
                <a:latin typeface="Georgia"/>
              </a:rPr>
              <a:t>Sustainability / vegan straps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2CD43D-092E-AB50-33BC-4D0B33F470B0}"/>
              </a:ext>
            </a:extLst>
          </p:cNvPr>
          <p:cNvSpPr txBox="1"/>
          <p:nvPr/>
        </p:nvSpPr>
        <p:spPr>
          <a:xfrm>
            <a:off x="731519" y="2754917"/>
            <a:ext cx="4710289" cy="2092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INTERNAL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177EF6-B2E6-E9A7-18E3-F0C350E17D76}"/>
              </a:ext>
            </a:extLst>
          </p:cNvPr>
          <p:cNvSpPr txBox="1"/>
          <p:nvPr/>
        </p:nvSpPr>
        <p:spPr>
          <a:xfrm>
            <a:off x="731519" y="3010948"/>
            <a:ext cx="4710289" cy="239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Rising cluster; carbon-neutral shipping + vegan leather repeatedly flagged.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D2746B-9AFC-EB2C-751E-8A2D5A64E0FA}"/>
              </a:ext>
            </a:extLst>
          </p:cNvPr>
          <p:cNvSpPr txBox="1"/>
          <p:nvPr/>
        </p:nvSpPr>
        <p:spPr>
          <a:xfrm>
            <a:off x="731519" y="3897917"/>
            <a:ext cx="4710289" cy="2092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088"/>
                </a:solidFill>
                <a:latin typeface="Calibri"/>
              </a:rPr>
              <a:t>EXTERNAL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E70293-60B0-FC78-A7D4-6F466CE4EFCA}"/>
              </a:ext>
            </a:extLst>
          </p:cNvPr>
          <p:cNvSpPr txBox="1"/>
          <p:nvPr/>
        </p:nvSpPr>
        <p:spPr>
          <a:xfrm>
            <a:off x="731519" y="4153949"/>
            <a:ext cx="4710289" cy="4592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440"/>
                </a:solidFill>
                <a:latin typeface="Calibri"/>
              </a:rPr>
              <a:t>Microbrand forums show growing demand; Nordgreen and Solios lead on messaging.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CB8749-627E-82EB-D712-356CEC738CF1}"/>
              </a:ext>
            </a:extLst>
          </p:cNvPr>
          <p:cNvSpPr txBox="1"/>
          <p:nvPr/>
        </p:nvSpPr>
        <p:spPr>
          <a:xfrm>
            <a:off x="731519" y="5040917"/>
            <a:ext cx="4710289" cy="2092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INSIGHT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DE53DA-6F79-8C23-27A5-B66BAFF1B641}"/>
              </a:ext>
            </a:extLst>
          </p:cNvPr>
          <p:cNvSpPr txBox="1"/>
          <p:nvPr/>
        </p:nvSpPr>
        <p:spPr>
          <a:xfrm>
            <a:off x="731519" y="5296949"/>
            <a:ext cx="4710289" cy="4592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B1437"/>
                </a:solidFill>
                <a:latin typeface="Calibri"/>
              </a:rPr>
              <a:t>Market-wide concern, not Boldr-specific. Boldr risks falling behind — develop a vegan strap angle and a packaging-recyclable statement this quarter.</a:t>
            </a:r>
          </a:p>
        </p:txBody>
      </p:sp>
    </p:spTree>
    <p:extLst>
      <p:ext uri="{BB962C8B-B14F-4D97-AF65-F5344CB8AC3E}">
        <p14:creationId xmlns:p14="http://schemas.microsoft.com/office/powerpoint/2010/main" val="2315535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ECHELON 2026  ·  AI WORKFLOW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Thank you.</a:t>
            </a:r>
          </a:p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Ready for questions.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114800"/>
            <a:ext cx="9144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Team AlphaBeta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8D49A"/>
                </a:solidFill>
                <a:latin typeface="Calibri"/>
              </a:rPr>
              <a:t>Tejas Chavan  ·  Ayush K Pacheriwala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8D49A"/>
                </a:solidFill>
                <a:latin typeface="Consolas"/>
              </a:rPr>
              <a:t>Repo:  github.com/tejasdotchavan/e27-boldr-challenge-AlphaBeta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8D49A"/>
                </a:solidFill>
                <a:latin typeface="Consolas"/>
              </a:rPr>
              <a:t>Live workflow:  tejasdotchavan.app.n8n.cloud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1960</Words>
  <Application>Microsoft Macintosh PowerPoint</Application>
  <PresentationFormat>Widescreen</PresentationFormat>
  <Paragraphs>318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Apurva  Bharade</cp:lastModifiedBy>
  <cp:revision>3</cp:revision>
  <dcterms:created xsi:type="dcterms:W3CDTF">2013-01-27T09:14:16Z</dcterms:created>
  <dcterms:modified xsi:type="dcterms:W3CDTF">2026-05-17T06:22:17Z</dcterms:modified>
  <cp:category/>
</cp:coreProperties>
</file>